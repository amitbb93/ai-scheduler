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10080625"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 roundtripDataSignature="AMtx7mibMXDPVmy1hvfLHFd06QCbRzTj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514350" y="1649770"/>
            <a:ext cx="5829300" cy="3509551"/>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 type="subTitle"/>
          </p:nvPr>
        </p:nvSpPr>
        <p:spPr>
          <a:xfrm>
            <a:off x="857250" y="5294662"/>
            <a:ext cx="5143500" cy="2433817"/>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4" name="Google Shape;14;p3"/>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471488" y="536702"/>
            <a:ext cx="5915025" cy="19484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471488" y="2683500"/>
            <a:ext cx="5915025" cy="63960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 name="Google Shape;20;p4"/>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467916" y="2513159"/>
            <a:ext cx="5915025" cy="419325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467916" y="6746088"/>
            <a:ext cx="5915025" cy="220513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26" name="Google Shape;26;p5"/>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471488" y="536702"/>
            <a:ext cx="5915025" cy="19484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471488" y="2683500"/>
            <a:ext cx="2914650" cy="63960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 name="Google Shape;32;p6"/>
          <p:cNvSpPr txBox="1"/>
          <p:nvPr>
            <p:ph idx="2" type="body"/>
          </p:nvPr>
        </p:nvSpPr>
        <p:spPr>
          <a:xfrm>
            <a:off x="3471863" y="2683500"/>
            <a:ext cx="2914650" cy="63960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 name="Google Shape;33;p6"/>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472381" y="536702"/>
            <a:ext cx="5915025" cy="19484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
          <p:cNvSpPr txBox="1"/>
          <p:nvPr>
            <p:ph idx="1" type="body"/>
          </p:nvPr>
        </p:nvSpPr>
        <p:spPr>
          <a:xfrm>
            <a:off x="472381" y="2471154"/>
            <a:ext cx="2901255" cy="121107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39" name="Google Shape;39;p7"/>
          <p:cNvSpPr txBox="1"/>
          <p:nvPr>
            <p:ph idx="2" type="body"/>
          </p:nvPr>
        </p:nvSpPr>
        <p:spPr>
          <a:xfrm>
            <a:off x="472381" y="3682228"/>
            <a:ext cx="2901255" cy="541600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7"/>
          <p:cNvSpPr txBox="1"/>
          <p:nvPr>
            <p:ph idx="3" type="body"/>
          </p:nvPr>
        </p:nvSpPr>
        <p:spPr>
          <a:xfrm>
            <a:off x="3471863" y="2471154"/>
            <a:ext cx="2915543" cy="121107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1" name="Google Shape;41;p7"/>
          <p:cNvSpPr txBox="1"/>
          <p:nvPr>
            <p:ph idx="4" type="body"/>
          </p:nvPr>
        </p:nvSpPr>
        <p:spPr>
          <a:xfrm>
            <a:off x="3471863" y="3682228"/>
            <a:ext cx="2915543" cy="541600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7"/>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471488" y="536702"/>
            <a:ext cx="5915025" cy="19484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472381" y="672042"/>
            <a:ext cx="2211884" cy="235214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2915543" y="1451426"/>
            <a:ext cx="3471863" cy="716377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7" name="Google Shape;57;p10"/>
          <p:cNvSpPr txBox="1"/>
          <p:nvPr>
            <p:ph idx="2" type="body"/>
          </p:nvPr>
        </p:nvSpPr>
        <p:spPr>
          <a:xfrm>
            <a:off x="472381" y="3024188"/>
            <a:ext cx="2211884" cy="56026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8" name="Google Shape;58;p10"/>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472381" y="672042"/>
            <a:ext cx="2211884" cy="235214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2915543" y="1451426"/>
            <a:ext cx="3471863" cy="7163777"/>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64" name="Google Shape;64;p11"/>
          <p:cNvSpPr txBox="1"/>
          <p:nvPr>
            <p:ph idx="1" type="body"/>
          </p:nvPr>
        </p:nvSpPr>
        <p:spPr>
          <a:xfrm>
            <a:off x="472381" y="3024188"/>
            <a:ext cx="2211884" cy="56026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5" name="Google Shape;65;p11"/>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471488" y="536702"/>
            <a:ext cx="5915025" cy="19484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230968" y="2924020"/>
            <a:ext cx="6396064"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1" name="Google Shape;71;p12"/>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1375703" y="4068754"/>
            <a:ext cx="8542864"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1624672" y="2632860"/>
            <a:ext cx="8542864"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13"/>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471488" y="536702"/>
            <a:ext cx="5915025" cy="194845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471488" y="2683500"/>
            <a:ext cx="5915025" cy="639606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471488" y="9343248"/>
            <a:ext cx="1543050" cy="5367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2271713" y="9343248"/>
            <a:ext cx="2314575" cy="5367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4843463" y="9343248"/>
            <a:ext cx="1543050" cy="5367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1.png"/><Relationship Id="rId13" Type="http://schemas.openxmlformats.org/officeDocument/2006/relationships/image" Target="../media/image3.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0.png"/><Relationship Id="rId15" Type="http://schemas.openxmlformats.org/officeDocument/2006/relationships/image" Target="../media/image7.png"/><Relationship Id="rId14"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12.jp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83" name="Shape 83"/>
        <p:cNvGrpSpPr/>
        <p:nvPr/>
      </p:nvGrpSpPr>
      <p:grpSpPr>
        <a:xfrm>
          <a:off x="0" y="0"/>
          <a:ext cx="0" cy="0"/>
          <a:chOff x="0" y="0"/>
          <a:chExt cx="0" cy="0"/>
        </a:xfrm>
      </p:grpSpPr>
      <p:sp>
        <p:nvSpPr>
          <p:cNvPr id="84" name="Google Shape;84;p1"/>
          <p:cNvSpPr/>
          <p:nvPr/>
        </p:nvSpPr>
        <p:spPr>
          <a:xfrm>
            <a:off x="131275" y="3368175"/>
            <a:ext cx="2944200" cy="4205400"/>
          </a:xfrm>
          <a:prstGeom prst="foldedCorner">
            <a:avLst>
              <a:gd fmla="val 16667" name="adj"/>
            </a:avLst>
          </a:prstGeom>
          <a:solidFill>
            <a:schemeClr val="lt1"/>
          </a:solidFill>
          <a:ln cap="flat" cmpd="sng" w="38100">
            <a:solidFill>
              <a:srgbClr val="021C6D"/>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300" u="sng">
                <a:solidFill>
                  <a:srgbClr val="021C6D"/>
                </a:solidFill>
              </a:rPr>
              <a:t>Selected Approach &amp; </a:t>
            </a:r>
            <a:r>
              <a:rPr b="1" lang="en-US" u="sng">
                <a:solidFill>
                  <a:srgbClr val="021C6D"/>
                </a:solidFill>
                <a:latin typeface="Calibri"/>
                <a:ea typeface="Calibri"/>
                <a:cs typeface="Calibri"/>
                <a:sym typeface="Calibri"/>
              </a:rPr>
              <a:t>Infrastructure</a:t>
            </a:r>
            <a:endParaRPr b="1" u="sng">
              <a:solidFill>
                <a:srgbClr val="021C6D"/>
              </a:solidFill>
              <a:latin typeface="Calibri"/>
              <a:ea typeface="Calibri"/>
              <a:cs typeface="Calibri"/>
              <a:sym typeface="Calibri"/>
            </a:endParaRPr>
          </a:p>
          <a:p>
            <a:pPr indent="0" lvl="0" marL="0" rtl="0" algn="ctr">
              <a:spcBef>
                <a:spcPts val="0"/>
              </a:spcBef>
              <a:spcAft>
                <a:spcPts val="0"/>
              </a:spcAft>
              <a:buNone/>
            </a:pPr>
            <a:r>
              <a:t/>
            </a:r>
            <a:endParaRPr b="1" u="sng">
              <a:solidFill>
                <a:srgbClr val="021C6D"/>
              </a:solidFill>
              <a:latin typeface="Calibri"/>
              <a:ea typeface="Calibri"/>
              <a:cs typeface="Calibri"/>
              <a:sym typeface="Calibri"/>
            </a:endParaRPr>
          </a:p>
          <a:p>
            <a:pPr indent="0" lvl="0" marL="0" rtl="0" algn="l">
              <a:lnSpc>
                <a:spcPct val="107916"/>
              </a:lnSpc>
              <a:spcBef>
                <a:spcPts val="0"/>
              </a:spcBef>
              <a:spcAft>
                <a:spcPts val="0"/>
              </a:spcAft>
              <a:buNone/>
            </a:pPr>
            <a:r>
              <a:rPr lang="en-US" sz="1300">
                <a:solidFill>
                  <a:srgbClr val="021C6D"/>
                </a:solidFill>
                <a:latin typeface="Calibri"/>
                <a:ea typeface="Calibri"/>
                <a:cs typeface="Calibri"/>
                <a:sym typeface="Calibri"/>
              </a:rPr>
              <a:t>We created a Linux virtual machine in Azure portal with a network security group that regulates the inbound and outbound traffic. In the VM we have a docker container that keeps our web application running.</a:t>
            </a:r>
            <a:endParaRPr sz="1300">
              <a:solidFill>
                <a:srgbClr val="021C6D"/>
              </a:solidFill>
              <a:latin typeface="Calibri"/>
              <a:ea typeface="Calibri"/>
              <a:cs typeface="Calibri"/>
              <a:sym typeface="Calibri"/>
            </a:endParaRPr>
          </a:p>
          <a:p>
            <a:pPr indent="0" lvl="0" marL="0" rtl="0" algn="l">
              <a:lnSpc>
                <a:spcPct val="107916"/>
              </a:lnSpc>
              <a:spcBef>
                <a:spcPts val="800"/>
              </a:spcBef>
              <a:spcAft>
                <a:spcPts val="0"/>
              </a:spcAft>
              <a:buNone/>
            </a:pPr>
            <a:r>
              <a:rPr lang="en-US" sz="1300">
                <a:solidFill>
                  <a:srgbClr val="021C6D"/>
                </a:solidFill>
                <a:latin typeface="Calibri"/>
                <a:ea typeface="Calibri"/>
                <a:cs typeface="Calibri"/>
                <a:sym typeface="Calibri"/>
              </a:rPr>
              <a:t>We use a Machine Learning algorithm to extract data of previous </a:t>
            </a:r>
            <a:r>
              <a:rPr lang="en-US" sz="1300">
                <a:solidFill>
                  <a:srgbClr val="021C6D"/>
                </a:solidFill>
                <a:highlight>
                  <a:srgbClr val="FFFFFF"/>
                </a:highlight>
                <a:latin typeface="Calibri"/>
                <a:ea typeface="Calibri"/>
                <a:cs typeface="Calibri"/>
                <a:sym typeface="Calibri"/>
              </a:rPr>
              <a:t>preferences</a:t>
            </a:r>
            <a:r>
              <a:rPr lang="en-US" sz="1300">
                <a:solidFill>
                  <a:srgbClr val="021C6D"/>
                </a:solidFill>
                <a:latin typeface="Calibri"/>
                <a:ea typeface="Calibri"/>
                <a:cs typeface="Calibri"/>
                <a:sym typeface="Calibri"/>
              </a:rPr>
              <a:t> of workers and creates a recommendation system for each worker.</a:t>
            </a:r>
            <a:endParaRPr sz="1300">
              <a:solidFill>
                <a:srgbClr val="021C6D"/>
              </a:solidFill>
              <a:latin typeface="Calibri"/>
              <a:ea typeface="Calibri"/>
              <a:cs typeface="Calibri"/>
              <a:sym typeface="Calibri"/>
            </a:endParaRPr>
          </a:p>
          <a:p>
            <a:pPr indent="0" lvl="0" marL="0" rtl="0" algn="l">
              <a:spcBef>
                <a:spcPts val="800"/>
              </a:spcBef>
              <a:spcAft>
                <a:spcPts val="0"/>
              </a:spcAft>
              <a:buNone/>
            </a:pPr>
            <a:r>
              <a:rPr lang="en-US" sz="1300">
                <a:solidFill>
                  <a:srgbClr val="021C6D"/>
                </a:solidFill>
                <a:latin typeface="Calibri"/>
                <a:ea typeface="Calibri"/>
                <a:cs typeface="Calibri"/>
                <a:sym typeface="Calibri"/>
              </a:rPr>
              <a:t>We use HTML web to offer and submit shifts to users, than we extract data into Excel files, execute a heuristic algorithm and returns output in csv format that keep all the information </a:t>
            </a:r>
            <a:endParaRPr sz="1300">
              <a:solidFill>
                <a:srgbClr val="021C6D"/>
              </a:solidFill>
              <a:latin typeface="Calibri"/>
              <a:ea typeface="Calibri"/>
              <a:cs typeface="Calibri"/>
              <a:sym typeface="Calibri"/>
            </a:endParaRPr>
          </a:p>
          <a:p>
            <a:pPr indent="0" lvl="0" marL="0" rtl="0" algn="l">
              <a:spcBef>
                <a:spcPts val="0"/>
              </a:spcBef>
              <a:spcAft>
                <a:spcPts val="0"/>
              </a:spcAft>
              <a:buNone/>
            </a:pPr>
            <a:r>
              <a:rPr lang="en-US" sz="1300">
                <a:solidFill>
                  <a:srgbClr val="021C6D"/>
                </a:solidFill>
                <a:latin typeface="Calibri"/>
                <a:ea typeface="Calibri"/>
                <a:cs typeface="Calibri"/>
                <a:sym typeface="Calibri"/>
              </a:rPr>
              <a:t>and display it to the users. </a:t>
            </a:r>
            <a:endParaRPr sz="1300">
              <a:solidFill>
                <a:srgbClr val="021C6D"/>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85" name="Google Shape;85;p1"/>
          <p:cNvSpPr txBox="1"/>
          <p:nvPr/>
        </p:nvSpPr>
        <p:spPr>
          <a:xfrm>
            <a:off x="1639200" y="9763900"/>
            <a:ext cx="3402300" cy="354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Clr>
                <a:schemeClr val="dk1"/>
              </a:buClr>
              <a:buFont typeface="Arial"/>
              <a:buNone/>
            </a:pPr>
            <a:r>
              <a:rPr b="1" lang="en-US" sz="1100">
                <a:solidFill>
                  <a:srgbClr val="021C6D"/>
                </a:solidFill>
                <a:latin typeface="Calibri"/>
                <a:ea typeface="Calibri"/>
                <a:cs typeface="Calibri"/>
                <a:sym typeface="Calibri"/>
              </a:rPr>
              <a:t>https://github.com/amitbb93/AI-S</a:t>
            </a:r>
            <a:r>
              <a:rPr b="1" lang="en-US" sz="1000">
                <a:solidFill>
                  <a:srgbClr val="021C6D"/>
                </a:solidFill>
                <a:latin typeface="Calibri"/>
                <a:ea typeface="Calibri"/>
                <a:cs typeface="Calibri"/>
                <a:sym typeface="Calibri"/>
              </a:rPr>
              <a:t>cheduler</a:t>
            </a:r>
            <a:endParaRPr sz="1200">
              <a:solidFill>
                <a:srgbClr val="021C6D"/>
              </a:solidFill>
              <a:latin typeface="Calibri"/>
              <a:ea typeface="Calibri"/>
              <a:cs typeface="Calibri"/>
              <a:sym typeface="Calibri"/>
            </a:endParaRPr>
          </a:p>
        </p:txBody>
      </p:sp>
      <p:grpSp>
        <p:nvGrpSpPr>
          <p:cNvPr id="86" name="Google Shape;86;p1"/>
          <p:cNvGrpSpPr/>
          <p:nvPr/>
        </p:nvGrpSpPr>
        <p:grpSpPr>
          <a:xfrm>
            <a:off x="131275" y="8086577"/>
            <a:ext cx="6482289" cy="1700254"/>
            <a:chOff x="96250" y="7623613"/>
            <a:chExt cx="6524700" cy="1820400"/>
          </a:xfrm>
        </p:grpSpPr>
        <p:sp>
          <p:nvSpPr>
            <p:cNvPr id="87" name="Google Shape;87;p1"/>
            <p:cNvSpPr/>
            <p:nvPr/>
          </p:nvSpPr>
          <p:spPr>
            <a:xfrm>
              <a:off x="96250" y="7623613"/>
              <a:ext cx="6524700" cy="1820400"/>
            </a:xfrm>
            <a:prstGeom prst="foldedCorner">
              <a:avLst>
                <a:gd fmla="val 16667" name="adj"/>
              </a:avLst>
            </a:prstGeom>
            <a:solidFill>
              <a:schemeClr val="lt1"/>
            </a:solidFill>
            <a:ln cap="flat" cmpd="sng" w="38100">
              <a:solidFill>
                <a:srgbClr val="021C6D"/>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1" algn="ctr">
                <a:spcBef>
                  <a:spcPts val="0"/>
                </a:spcBef>
                <a:spcAft>
                  <a:spcPts val="0"/>
                </a:spcAft>
                <a:buNone/>
              </a:pPr>
              <a:r>
                <a:rPr b="1" lang="en-US" u="sng">
                  <a:solidFill>
                    <a:srgbClr val="021C6D"/>
                  </a:solidFill>
                  <a:latin typeface="Calibri"/>
                  <a:ea typeface="Calibri"/>
                  <a:cs typeface="Calibri"/>
                  <a:sym typeface="Calibri"/>
                </a:rPr>
                <a:t>Technologies and </a:t>
              </a:r>
              <a:r>
                <a:rPr b="1" lang="en-US" u="sng">
                  <a:solidFill>
                    <a:srgbClr val="021C6D"/>
                  </a:solidFill>
                  <a:latin typeface="Calibri"/>
                  <a:ea typeface="Calibri"/>
                  <a:cs typeface="Calibri"/>
                  <a:sym typeface="Calibri"/>
                </a:rPr>
                <a:t>Environments</a:t>
              </a:r>
              <a:endParaRPr b="1" u="sng">
                <a:solidFill>
                  <a:schemeClr val="dk1"/>
                </a:solidFill>
                <a:latin typeface="Calibri"/>
                <a:ea typeface="Calibri"/>
                <a:cs typeface="Calibri"/>
                <a:sym typeface="Calibri"/>
              </a:endParaRPr>
            </a:p>
            <a:p>
              <a:pPr indent="0" lvl="0" marL="0" marR="0" rtl="1" algn="ctr">
                <a:spcBef>
                  <a:spcPts val="0"/>
                </a:spcBef>
                <a:spcAft>
                  <a:spcPts val="0"/>
                </a:spcAft>
                <a:buNone/>
              </a:pPr>
              <a:r>
                <a:t/>
              </a:r>
              <a:endParaRPr b="1" sz="1200" u="sng">
                <a:solidFill>
                  <a:schemeClr val="dk1"/>
                </a:solidFill>
                <a:latin typeface="Calibri"/>
                <a:ea typeface="Calibri"/>
                <a:cs typeface="Calibri"/>
                <a:sym typeface="Calibri"/>
              </a:endParaRPr>
            </a:p>
            <a:p>
              <a:pPr indent="0" lvl="0" marL="0" marR="0" rtl="1" algn="ctr">
                <a:spcBef>
                  <a:spcPts val="0"/>
                </a:spcBef>
                <a:spcAft>
                  <a:spcPts val="0"/>
                </a:spcAft>
                <a:buNone/>
              </a:pPr>
              <a:r>
                <a:t/>
              </a:r>
              <a:endParaRPr b="1" sz="1200" u="sng">
                <a:solidFill>
                  <a:schemeClr val="dk1"/>
                </a:solidFill>
                <a:latin typeface="Calibri"/>
                <a:ea typeface="Calibri"/>
                <a:cs typeface="Calibri"/>
                <a:sym typeface="Calibri"/>
              </a:endParaRPr>
            </a:p>
          </p:txBody>
        </p:sp>
        <p:pic>
          <p:nvPicPr>
            <p:cNvPr id="88" name="Google Shape;88;p1"/>
            <p:cNvPicPr preferRelativeResize="0"/>
            <p:nvPr/>
          </p:nvPicPr>
          <p:blipFill>
            <a:blip r:embed="rId3">
              <a:alphaModFix/>
            </a:blip>
            <a:stretch>
              <a:fillRect/>
            </a:stretch>
          </p:blipFill>
          <p:spPr>
            <a:xfrm>
              <a:off x="1998600" y="7978391"/>
              <a:ext cx="434700" cy="460626"/>
            </a:xfrm>
            <a:prstGeom prst="rect">
              <a:avLst/>
            </a:prstGeom>
            <a:noFill/>
            <a:ln>
              <a:noFill/>
            </a:ln>
          </p:spPr>
        </p:pic>
        <p:pic>
          <p:nvPicPr>
            <p:cNvPr id="89" name="Google Shape;89;p1"/>
            <p:cNvPicPr preferRelativeResize="0"/>
            <p:nvPr/>
          </p:nvPicPr>
          <p:blipFill>
            <a:blip r:embed="rId4">
              <a:alphaModFix/>
            </a:blip>
            <a:stretch>
              <a:fillRect/>
            </a:stretch>
          </p:blipFill>
          <p:spPr>
            <a:xfrm>
              <a:off x="4361190" y="7909799"/>
              <a:ext cx="464473" cy="464473"/>
            </a:xfrm>
            <a:prstGeom prst="rect">
              <a:avLst/>
            </a:prstGeom>
            <a:noFill/>
            <a:ln>
              <a:noFill/>
            </a:ln>
          </p:spPr>
        </p:pic>
        <p:pic>
          <p:nvPicPr>
            <p:cNvPr id="90" name="Google Shape;90;p1"/>
            <p:cNvPicPr preferRelativeResize="0"/>
            <p:nvPr/>
          </p:nvPicPr>
          <p:blipFill>
            <a:blip r:embed="rId5">
              <a:alphaModFix/>
            </a:blip>
            <a:stretch>
              <a:fillRect/>
            </a:stretch>
          </p:blipFill>
          <p:spPr>
            <a:xfrm>
              <a:off x="4361196" y="8536884"/>
              <a:ext cx="464453" cy="464453"/>
            </a:xfrm>
            <a:prstGeom prst="rect">
              <a:avLst/>
            </a:prstGeom>
            <a:noFill/>
            <a:ln>
              <a:noFill/>
            </a:ln>
          </p:spPr>
        </p:pic>
        <p:pic>
          <p:nvPicPr>
            <p:cNvPr id="91" name="Google Shape;91;p1"/>
            <p:cNvPicPr preferRelativeResize="0"/>
            <p:nvPr/>
          </p:nvPicPr>
          <p:blipFill>
            <a:blip r:embed="rId6">
              <a:alphaModFix/>
            </a:blip>
            <a:stretch>
              <a:fillRect/>
            </a:stretch>
          </p:blipFill>
          <p:spPr>
            <a:xfrm>
              <a:off x="424951" y="7715901"/>
              <a:ext cx="1300500" cy="985587"/>
            </a:xfrm>
            <a:prstGeom prst="rect">
              <a:avLst/>
            </a:prstGeom>
            <a:noFill/>
            <a:ln cap="flat" cmpd="sng" w="38100">
              <a:solidFill>
                <a:schemeClr val="accent5"/>
              </a:solidFill>
              <a:prstDash val="solid"/>
              <a:miter lim="8000"/>
              <a:headEnd len="sm" w="sm" type="none"/>
              <a:tailEnd len="sm" w="sm" type="none"/>
            </a:ln>
          </p:spPr>
        </p:pic>
        <p:pic>
          <p:nvPicPr>
            <p:cNvPr id="92" name="Google Shape;92;p1"/>
            <p:cNvPicPr preferRelativeResize="0"/>
            <p:nvPr/>
          </p:nvPicPr>
          <p:blipFill>
            <a:blip r:embed="rId7">
              <a:alphaModFix/>
            </a:blip>
            <a:stretch>
              <a:fillRect/>
            </a:stretch>
          </p:blipFill>
          <p:spPr>
            <a:xfrm>
              <a:off x="818479" y="8870363"/>
              <a:ext cx="338700" cy="338700"/>
            </a:xfrm>
            <a:prstGeom prst="rect">
              <a:avLst/>
            </a:prstGeom>
            <a:noFill/>
            <a:ln cap="flat" cmpd="sng" w="38100">
              <a:solidFill>
                <a:schemeClr val="accent5"/>
              </a:solidFill>
              <a:prstDash val="solid"/>
              <a:miter lim="8000"/>
              <a:headEnd len="sm" w="sm" type="none"/>
              <a:tailEnd len="sm" w="sm" type="none"/>
            </a:ln>
          </p:spPr>
        </p:pic>
        <p:pic>
          <p:nvPicPr>
            <p:cNvPr id="93" name="Google Shape;93;p1"/>
            <p:cNvPicPr preferRelativeResize="0"/>
            <p:nvPr/>
          </p:nvPicPr>
          <p:blipFill>
            <a:blip r:embed="rId8">
              <a:alphaModFix/>
            </a:blip>
            <a:stretch>
              <a:fillRect/>
            </a:stretch>
          </p:blipFill>
          <p:spPr>
            <a:xfrm>
              <a:off x="1228050" y="8852955"/>
              <a:ext cx="667000" cy="373520"/>
            </a:xfrm>
            <a:prstGeom prst="rect">
              <a:avLst/>
            </a:prstGeom>
            <a:noFill/>
            <a:ln>
              <a:noFill/>
            </a:ln>
          </p:spPr>
        </p:pic>
        <p:pic>
          <p:nvPicPr>
            <p:cNvPr id="94" name="Google Shape;94;p1"/>
            <p:cNvPicPr preferRelativeResize="0"/>
            <p:nvPr/>
          </p:nvPicPr>
          <p:blipFill>
            <a:blip r:embed="rId9">
              <a:alphaModFix/>
            </a:blip>
            <a:stretch>
              <a:fillRect/>
            </a:stretch>
          </p:blipFill>
          <p:spPr>
            <a:xfrm>
              <a:off x="207475" y="8829300"/>
              <a:ext cx="540125" cy="420843"/>
            </a:xfrm>
            <a:prstGeom prst="rect">
              <a:avLst/>
            </a:prstGeom>
            <a:noFill/>
            <a:ln>
              <a:noFill/>
            </a:ln>
          </p:spPr>
        </p:pic>
        <p:pic>
          <p:nvPicPr>
            <p:cNvPr id="95" name="Google Shape;95;p1"/>
            <p:cNvPicPr preferRelativeResize="0"/>
            <p:nvPr/>
          </p:nvPicPr>
          <p:blipFill>
            <a:blip r:embed="rId10">
              <a:alphaModFix/>
            </a:blip>
            <a:stretch>
              <a:fillRect/>
            </a:stretch>
          </p:blipFill>
          <p:spPr>
            <a:xfrm>
              <a:off x="5019941" y="7849791"/>
              <a:ext cx="1216650" cy="1216650"/>
            </a:xfrm>
            <a:prstGeom prst="rect">
              <a:avLst/>
            </a:prstGeom>
            <a:noFill/>
            <a:ln cap="flat" cmpd="sng" w="38100">
              <a:solidFill>
                <a:schemeClr val="accent5"/>
              </a:solidFill>
              <a:prstDash val="solid"/>
              <a:miter lim="8000"/>
              <a:headEnd len="sm" w="sm" type="none"/>
              <a:tailEnd len="sm" w="sm" type="none"/>
            </a:ln>
          </p:spPr>
        </p:pic>
        <p:pic>
          <p:nvPicPr>
            <p:cNvPr id="96" name="Google Shape;96;p1"/>
            <p:cNvPicPr preferRelativeResize="0"/>
            <p:nvPr/>
          </p:nvPicPr>
          <p:blipFill>
            <a:blip r:embed="rId11">
              <a:alphaModFix/>
            </a:blip>
            <a:stretch>
              <a:fillRect/>
            </a:stretch>
          </p:blipFill>
          <p:spPr>
            <a:xfrm>
              <a:off x="1983530" y="8713563"/>
              <a:ext cx="467357" cy="467357"/>
            </a:xfrm>
            <a:prstGeom prst="rect">
              <a:avLst/>
            </a:prstGeom>
            <a:noFill/>
            <a:ln>
              <a:noFill/>
            </a:ln>
          </p:spPr>
        </p:pic>
        <p:pic>
          <p:nvPicPr>
            <p:cNvPr id="97" name="Google Shape;97;p1"/>
            <p:cNvPicPr preferRelativeResize="0"/>
            <p:nvPr/>
          </p:nvPicPr>
          <p:blipFill rotWithShape="1">
            <a:blip r:embed="rId12">
              <a:alphaModFix/>
            </a:blip>
            <a:srcRect b="4329" l="17352" r="13376" t="6041"/>
            <a:stretch/>
          </p:blipFill>
          <p:spPr>
            <a:xfrm>
              <a:off x="2539374" y="7925984"/>
              <a:ext cx="1715749" cy="1390728"/>
            </a:xfrm>
            <a:prstGeom prst="rect">
              <a:avLst/>
            </a:prstGeom>
            <a:noFill/>
            <a:ln>
              <a:noFill/>
            </a:ln>
          </p:spPr>
        </p:pic>
      </p:grpSp>
      <p:pic>
        <p:nvPicPr>
          <p:cNvPr id="98" name="Google Shape;98;p1"/>
          <p:cNvPicPr preferRelativeResize="0"/>
          <p:nvPr/>
        </p:nvPicPr>
        <p:blipFill>
          <a:blip r:embed="rId13">
            <a:alphaModFix/>
          </a:blip>
          <a:stretch>
            <a:fillRect/>
          </a:stretch>
        </p:blipFill>
        <p:spPr>
          <a:xfrm>
            <a:off x="1795800" y="9816350"/>
            <a:ext cx="241800" cy="241800"/>
          </a:xfrm>
          <a:prstGeom prst="rect">
            <a:avLst/>
          </a:prstGeom>
          <a:noFill/>
          <a:ln>
            <a:noFill/>
          </a:ln>
        </p:spPr>
      </p:pic>
      <p:sp>
        <p:nvSpPr>
          <p:cNvPr id="99" name="Google Shape;99;p1"/>
          <p:cNvSpPr txBox="1"/>
          <p:nvPr>
            <p:ph idx="1" type="subTitle"/>
          </p:nvPr>
        </p:nvSpPr>
        <p:spPr>
          <a:xfrm>
            <a:off x="1" y="0"/>
            <a:ext cx="6857999" cy="1283749"/>
          </a:xfrm>
          <a:prstGeom prst="rect">
            <a:avLst/>
          </a:prstGeom>
          <a:gradFill>
            <a:gsLst>
              <a:gs pos="0">
                <a:srgbClr val="D4E5F5"/>
              </a:gs>
              <a:gs pos="100000">
                <a:srgbClr val="70A4D5"/>
              </a:gs>
            </a:gsLst>
            <a:lin ang="5400012" scaled="0"/>
          </a:gradFill>
          <a:ln cap="flat" cmpd="sng" w="12700">
            <a:solidFill>
              <a:srgbClr val="2F5496"/>
            </a:solidFill>
            <a:prstDash val="solid"/>
            <a:miter lim="800000"/>
            <a:headEnd len="sm" w="sm" type="none"/>
            <a:tailEnd len="sm" w="sm" type="none"/>
          </a:ln>
          <a:effectLst>
            <a:outerShdw blurRad="200025" rotWithShape="0" algn="bl" dir="5400000" dist="19050">
              <a:srgbClr val="1C4587">
                <a:alpha val="54000"/>
              </a:srgbClr>
            </a:outerShdw>
          </a:effectLst>
        </p:spPr>
        <p:txBody>
          <a:bodyPr anchorCtr="0" anchor="t" bIns="45700" lIns="91425" spcFirstLastPara="1" rIns="91425" wrap="square" tIns="45700">
            <a:normAutofit fontScale="92500" lnSpcReduction="20000"/>
          </a:bodyPr>
          <a:lstStyle/>
          <a:p>
            <a:pPr indent="0" lvl="0" marL="0" rtl="0" algn="ctr">
              <a:lnSpc>
                <a:spcPct val="90000"/>
              </a:lnSpc>
              <a:spcBef>
                <a:spcPts val="0"/>
              </a:spcBef>
              <a:spcAft>
                <a:spcPts val="0"/>
              </a:spcAft>
              <a:buClr>
                <a:srgbClr val="FF0000"/>
              </a:buClr>
              <a:buSzPct val="100000"/>
              <a:buNone/>
            </a:pPr>
            <a:r>
              <a:rPr b="1" lang="en-US" sz="1307">
                <a:solidFill>
                  <a:srgbClr val="2F82DC"/>
                </a:solidFill>
                <a:latin typeface="Calibri"/>
                <a:ea typeface="Calibri"/>
                <a:cs typeface="Calibri"/>
                <a:sym typeface="Calibri"/>
              </a:rPr>
              <a:t> </a:t>
            </a:r>
            <a:r>
              <a:rPr b="1" lang="en-US" sz="1307">
                <a:solidFill>
                  <a:srgbClr val="1155CC"/>
                </a:solidFill>
                <a:latin typeface="Calibri"/>
                <a:ea typeface="Calibri"/>
                <a:cs typeface="Calibri"/>
                <a:sym typeface="Calibri"/>
              </a:rPr>
              <a:t>[Poster Describe Research or Software Development Project]</a:t>
            </a:r>
            <a:br>
              <a:rPr b="1" lang="en-US" sz="1307">
                <a:solidFill>
                  <a:srgbClr val="2F82DC"/>
                </a:solidFill>
                <a:latin typeface="Calibri"/>
                <a:ea typeface="Calibri"/>
                <a:cs typeface="Calibri"/>
                <a:sym typeface="Calibri"/>
              </a:rPr>
            </a:br>
            <a:br>
              <a:rPr b="1" lang="en-US" sz="1307">
                <a:solidFill>
                  <a:srgbClr val="2F82DC"/>
                </a:solidFill>
                <a:latin typeface="Calibri"/>
                <a:ea typeface="Calibri"/>
                <a:cs typeface="Calibri"/>
                <a:sym typeface="Calibri"/>
              </a:rPr>
            </a:br>
            <a:r>
              <a:rPr b="1" lang="en-US" sz="1307">
                <a:solidFill>
                  <a:srgbClr val="2F82DC"/>
                </a:solidFill>
                <a:latin typeface="Calibri"/>
                <a:ea typeface="Calibri"/>
                <a:cs typeface="Calibri"/>
                <a:sym typeface="Calibri"/>
              </a:rPr>
              <a:t>        </a:t>
            </a:r>
            <a:endParaRPr b="1" sz="1307">
              <a:solidFill>
                <a:srgbClr val="2F82DC"/>
              </a:solidFill>
            </a:endParaRPr>
          </a:p>
          <a:p>
            <a:pPr indent="0" lvl="0" marL="0" rtl="0" algn="ctr">
              <a:lnSpc>
                <a:spcPct val="90000"/>
              </a:lnSpc>
              <a:spcBef>
                <a:spcPts val="0"/>
              </a:spcBef>
              <a:spcAft>
                <a:spcPts val="0"/>
              </a:spcAft>
              <a:buClr>
                <a:srgbClr val="FF0000"/>
              </a:buClr>
              <a:buSzPct val="100000"/>
              <a:buNone/>
            </a:pPr>
            <a:r>
              <a:rPr b="1" lang="en-US" sz="1307"/>
              <a:t>                  </a:t>
            </a:r>
            <a:endParaRPr b="1" sz="1307"/>
          </a:p>
          <a:p>
            <a:pPr indent="0" lvl="0" marL="0" rtl="0" algn="ctr">
              <a:lnSpc>
                <a:spcPct val="90000"/>
              </a:lnSpc>
              <a:spcBef>
                <a:spcPts val="0"/>
              </a:spcBef>
              <a:spcAft>
                <a:spcPts val="0"/>
              </a:spcAft>
              <a:buClr>
                <a:srgbClr val="FF0000"/>
              </a:buClr>
              <a:buSzPct val="100000"/>
              <a:buNone/>
            </a:pPr>
            <a:r>
              <a:rPr b="1" lang="en-US" sz="1307"/>
              <a:t>                  </a:t>
            </a:r>
            <a:endParaRPr b="1" sz="1307"/>
          </a:p>
          <a:p>
            <a:pPr indent="0" lvl="0" marL="0" rtl="0" algn="ctr">
              <a:lnSpc>
                <a:spcPct val="90000"/>
              </a:lnSpc>
              <a:spcBef>
                <a:spcPts val="0"/>
              </a:spcBef>
              <a:spcAft>
                <a:spcPts val="0"/>
              </a:spcAft>
              <a:buClr>
                <a:srgbClr val="FF0000"/>
              </a:buClr>
              <a:buSzPct val="100000"/>
              <a:buNone/>
            </a:pPr>
            <a:r>
              <a:rPr b="1" lang="en-US" sz="1307">
                <a:solidFill>
                  <a:srgbClr val="021C6D"/>
                </a:solidFill>
              </a:rPr>
              <a:t>                  </a:t>
            </a:r>
            <a:endParaRPr b="1" sz="1307">
              <a:solidFill>
                <a:srgbClr val="021C6D"/>
              </a:solidFill>
            </a:endParaRPr>
          </a:p>
          <a:p>
            <a:pPr indent="0" lvl="0" marL="0" rtl="0" algn="ctr">
              <a:lnSpc>
                <a:spcPct val="90000"/>
              </a:lnSpc>
              <a:spcBef>
                <a:spcPts val="0"/>
              </a:spcBef>
              <a:spcAft>
                <a:spcPts val="0"/>
              </a:spcAft>
              <a:buClr>
                <a:srgbClr val="FF0000"/>
              </a:buClr>
              <a:buSzPct val="100000"/>
              <a:buNone/>
            </a:pPr>
            <a:r>
              <a:rPr b="1" lang="en-US" sz="1307">
                <a:solidFill>
                  <a:srgbClr val="021C6D"/>
                </a:solidFill>
              </a:rPr>
              <a:t>                 Amit Bibi (203262647) Moran Oshia (3132929633) Alex Chagan (206262123)</a:t>
            </a:r>
            <a:br>
              <a:rPr b="1" lang="en-US" sz="1307">
                <a:solidFill>
                  <a:srgbClr val="021C6D"/>
                </a:solidFill>
                <a:latin typeface="Calibri"/>
                <a:ea typeface="Calibri"/>
                <a:cs typeface="Calibri"/>
                <a:sym typeface="Calibri"/>
              </a:rPr>
            </a:br>
            <a:r>
              <a:rPr b="1" lang="en-US" sz="1307">
                <a:solidFill>
                  <a:srgbClr val="021C6D"/>
                </a:solidFill>
                <a:latin typeface="Calibri"/>
                <a:ea typeface="Calibri"/>
                <a:cs typeface="Calibri"/>
                <a:sym typeface="Calibri"/>
              </a:rPr>
              <a:t>       In</a:t>
            </a:r>
            <a:r>
              <a:rPr b="1" lang="en-US" sz="1307">
                <a:solidFill>
                  <a:srgbClr val="021C6D"/>
                </a:solidFill>
              </a:rPr>
              <a:t>structed by Dr.Elad Horev</a:t>
            </a:r>
            <a:br>
              <a:rPr b="1" lang="en-US" sz="1307">
                <a:solidFill>
                  <a:srgbClr val="FF0000"/>
                </a:solidFill>
                <a:latin typeface="Calibri"/>
                <a:ea typeface="Calibri"/>
                <a:cs typeface="Calibri"/>
                <a:sym typeface="Calibri"/>
              </a:rPr>
            </a:br>
            <a:endParaRPr b="1" sz="1307">
              <a:solidFill>
                <a:srgbClr val="FF0000"/>
              </a:solidFill>
              <a:latin typeface="Calibri"/>
              <a:ea typeface="Calibri"/>
              <a:cs typeface="Calibri"/>
              <a:sym typeface="Calibri"/>
            </a:endParaRPr>
          </a:p>
        </p:txBody>
      </p:sp>
      <p:sp>
        <p:nvSpPr>
          <p:cNvPr id="100" name="Google Shape;100;p1"/>
          <p:cNvSpPr txBox="1"/>
          <p:nvPr/>
        </p:nvSpPr>
        <p:spPr>
          <a:xfrm>
            <a:off x="-321080" y="5078200"/>
            <a:ext cx="184800" cy="17370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t/>
            </a:r>
            <a:endParaRPr b="0" i="0" sz="490" u="none" cap="none" strike="noStrike">
              <a:solidFill>
                <a:schemeClr val="dk1"/>
              </a:solidFill>
              <a:latin typeface="Calibri"/>
              <a:ea typeface="Calibri"/>
              <a:cs typeface="Calibri"/>
              <a:sym typeface="Calibri"/>
            </a:endParaRPr>
          </a:p>
        </p:txBody>
      </p:sp>
      <p:sp>
        <p:nvSpPr>
          <p:cNvPr id="101" name="Google Shape;101;p1"/>
          <p:cNvSpPr/>
          <p:nvPr/>
        </p:nvSpPr>
        <p:spPr>
          <a:xfrm>
            <a:off x="3620525" y="4095750"/>
            <a:ext cx="3086700" cy="3800400"/>
          </a:xfrm>
          <a:prstGeom prst="foldedCorner">
            <a:avLst>
              <a:gd fmla="val 11162" name="adj"/>
            </a:avLst>
          </a:prstGeom>
          <a:solidFill>
            <a:schemeClr val="lt1"/>
          </a:solidFill>
          <a:ln cap="flat" cmpd="sng" w="38100">
            <a:solidFill>
              <a:srgbClr val="021C6D"/>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u="sng">
                <a:solidFill>
                  <a:srgbClr val="021C6D"/>
                </a:solidFill>
                <a:latin typeface="Calibri"/>
                <a:ea typeface="Calibri"/>
                <a:cs typeface="Calibri"/>
                <a:sym typeface="Calibri"/>
              </a:rPr>
              <a:t>Our Solution</a:t>
            </a:r>
            <a:endParaRPr b="1" u="sng">
              <a:solidFill>
                <a:srgbClr val="021C6D"/>
              </a:solidFill>
              <a:latin typeface="Calibri"/>
              <a:ea typeface="Calibri"/>
              <a:cs typeface="Calibri"/>
              <a:sym typeface="Calibri"/>
            </a:endParaRPr>
          </a:p>
          <a:p>
            <a:pPr indent="0" lvl="0" marL="0" rtl="0" algn="ctr">
              <a:spcBef>
                <a:spcPts val="0"/>
              </a:spcBef>
              <a:spcAft>
                <a:spcPts val="0"/>
              </a:spcAft>
              <a:buNone/>
            </a:pPr>
            <a:r>
              <a:t/>
            </a:r>
            <a:endParaRPr b="1" sz="400" u="sng">
              <a:solidFill>
                <a:srgbClr val="021C6D"/>
              </a:solidFill>
              <a:latin typeface="Calibri"/>
              <a:ea typeface="Calibri"/>
              <a:cs typeface="Calibri"/>
              <a:sym typeface="Calibri"/>
            </a:endParaRPr>
          </a:p>
          <a:p>
            <a:pPr indent="0" lvl="0" marL="0" marR="0" rtl="0" algn="l">
              <a:lnSpc>
                <a:spcPct val="107916"/>
              </a:lnSpc>
              <a:spcBef>
                <a:spcPts val="0"/>
              </a:spcBef>
              <a:spcAft>
                <a:spcPts val="0"/>
              </a:spcAft>
              <a:buNone/>
            </a:pPr>
            <a:r>
              <a:rPr lang="en-US" sz="1300">
                <a:solidFill>
                  <a:srgbClr val="021C6D"/>
                </a:solidFill>
                <a:latin typeface="Calibri"/>
                <a:ea typeface="Calibri"/>
                <a:cs typeface="Calibri"/>
                <a:sym typeface="Calibri"/>
              </a:rPr>
              <a:t>We decided to build a website application that will satisfy the goals of our project. The part which is responsible for the creation of the shifts board  will use linear programing, that will schedule workers to shifts by their preferences and restrictions. In addition, the worker will get suggestions of schedule shift offers based on previous preferences, the machine will recognize the most frequent shifts the worker chose every week from our DB and create a suggested shifts board. Our product allows users to maximize efficiency of creating adapted work schedules with a click of button and offers a user friendly interface for both managers and workers.</a:t>
            </a:r>
            <a:endParaRPr sz="1200">
              <a:solidFill>
                <a:srgbClr val="021C6D"/>
              </a:solidFill>
              <a:latin typeface="Calibri"/>
              <a:ea typeface="Calibri"/>
              <a:cs typeface="Calibri"/>
              <a:sym typeface="Calibri"/>
            </a:endParaRPr>
          </a:p>
          <a:p>
            <a:pPr indent="0" lvl="0" marL="0" marR="0" rtl="0" algn="l">
              <a:lnSpc>
                <a:spcPct val="107916"/>
              </a:lnSpc>
              <a:spcBef>
                <a:spcPts val="800"/>
              </a:spcBef>
              <a:spcAft>
                <a:spcPts val="800"/>
              </a:spcAft>
              <a:buNone/>
            </a:pPr>
            <a:r>
              <a:t/>
            </a:r>
            <a:endParaRPr sz="1300">
              <a:solidFill>
                <a:srgbClr val="021C6D"/>
              </a:solidFill>
              <a:latin typeface="Calibri"/>
              <a:ea typeface="Calibri"/>
              <a:cs typeface="Calibri"/>
              <a:sym typeface="Calibri"/>
            </a:endParaRPr>
          </a:p>
        </p:txBody>
      </p:sp>
      <p:sp>
        <p:nvSpPr>
          <p:cNvPr id="102" name="Google Shape;102;p1"/>
          <p:cNvSpPr/>
          <p:nvPr/>
        </p:nvSpPr>
        <p:spPr>
          <a:xfrm>
            <a:off x="3606450" y="1381425"/>
            <a:ext cx="3115500" cy="2603700"/>
          </a:xfrm>
          <a:prstGeom prst="foldedCorner">
            <a:avLst>
              <a:gd fmla="val 16667" name="adj"/>
            </a:avLst>
          </a:prstGeom>
          <a:solidFill>
            <a:schemeClr val="lt1"/>
          </a:solidFill>
          <a:ln cap="flat" cmpd="sng" w="38100">
            <a:solidFill>
              <a:srgbClr val="021C6D"/>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u="sng">
                <a:solidFill>
                  <a:srgbClr val="021C6D"/>
                </a:solidFill>
                <a:latin typeface="Calibri"/>
                <a:ea typeface="Calibri"/>
                <a:cs typeface="Calibri"/>
                <a:sym typeface="Calibri"/>
              </a:rPr>
              <a:t>Introduction</a:t>
            </a:r>
            <a:endParaRPr b="1" u="sng">
              <a:solidFill>
                <a:srgbClr val="021C6D"/>
              </a:solidFill>
              <a:latin typeface="Calibri"/>
              <a:ea typeface="Calibri"/>
              <a:cs typeface="Calibri"/>
              <a:sym typeface="Calibri"/>
            </a:endParaRPr>
          </a:p>
          <a:p>
            <a:pPr indent="0" lvl="0" marL="0" marR="0" rtl="0" algn="l">
              <a:lnSpc>
                <a:spcPct val="100000"/>
              </a:lnSpc>
              <a:spcBef>
                <a:spcPts val="800"/>
              </a:spcBef>
              <a:spcAft>
                <a:spcPts val="0"/>
              </a:spcAft>
              <a:buNone/>
            </a:pPr>
            <a:r>
              <a:rPr lang="en-US" sz="1300">
                <a:solidFill>
                  <a:srgbClr val="021C6D"/>
                </a:solidFill>
                <a:latin typeface="Calibri"/>
                <a:ea typeface="Calibri"/>
                <a:cs typeface="Calibri"/>
                <a:sym typeface="Calibri"/>
              </a:rPr>
              <a:t>Nowadays, most of the process of creating shifts schedules is a tedious process for employers and employees.</a:t>
            </a:r>
            <a:endParaRPr sz="1300">
              <a:solidFill>
                <a:srgbClr val="021C6D"/>
              </a:solidFill>
              <a:latin typeface="Calibri"/>
              <a:ea typeface="Calibri"/>
              <a:cs typeface="Calibri"/>
              <a:sym typeface="Calibri"/>
            </a:endParaRPr>
          </a:p>
          <a:p>
            <a:pPr indent="0" lvl="0" marL="0" marR="0" rtl="0" algn="l">
              <a:lnSpc>
                <a:spcPct val="100000"/>
              </a:lnSpc>
              <a:spcBef>
                <a:spcPts val="800"/>
              </a:spcBef>
              <a:spcAft>
                <a:spcPts val="0"/>
              </a:spcAft>
              <a:buNone/>
            </a:pPr>
            <a:r>
              <a:rPr lang="en-US" sz="1300">
                <a:solidFill>
                  <a:srgbClr val="021C6D"/>
                </a:solidFill>
                <a:latin typeface="Calibri"/>
                <a:ea typeface="Calibri"/>
                <a:cs typeface="Calibri"/>
                <a:sym typeface="Calibri"/>
              </a:rPr>
              <a:t>In a world where procedures become automated, we are replacing manual shift creation with automation and fairness.</a:t>
            </a:r>
            <a:endParaRPr sz="1300">
              <a:solidFill>
                <a:srgbClr val="021C6D"/>
              </a:solidFill>
              <a:latin typeface="Calibri"/>
              <a:ea typeface="Calibri"/>
              <a:cs typeface="Calibri"/>
              <a:sym typeface="Calibri"/>
            </a:endParaRPr>
          </a:p>
          <a:p>
            <a:pPr indent="0" lvl="0" marL="0" marR="0" rtl="0" algn="l">
              <a:lnSpc>
                <a:spcPct val="100000"/>
              </a:lnSpc>
              <a:spcBef>
                <a:spcPts val="800"/>
              </a:spcBef>
              <a:spcAft>
                <a:spcPts val="0"/>
              </a:spcAft>
              <a:buNone/>
            </a:pPr>
            <a:r>
              <a:rPr lang="en-US" sz="1300">
                <a:solidFill>
                  <a:srgbClr val="021C6D"/>
                </a:solidFill>
                <a:latin typeface="Calibri"/>
                <a:ea typeface="Calibri"/>
                <a:cs typeface="Calibri"/>
                <a:sym typeface="Calibri"/>
              </a:rPr>
              <a:t>Even better, we make the submission of the shifts easier and more automated for the employees themselves, not only the employers.</a:t>
            </a:r>
            <a:endParaRPr sz="1300">
              <a:solidFill>
                <a:srgbClr val="021C6D"/>
              </a:solidFill>
              <a:latin typeface="Calibri"/>
              <a:ea typeface="Calibri"/>
              <a:cs typeface="Calibri"/>
              <a:sym typeface="Calibri"/>
            </a:endParaRPr>
          </a:p>
          <a:p>
            <a:pPr indent="0" lvl="0" marL="0" rtl="0" algn="l">
              <a:spcBef>
                <a:spcPts val="80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p:txBody>
      </p:sp>
      <p:sp>
        <p:nvSpPr>
          <p:cNvPr id="103" name="Google Shape;103;p1"/>
          <p:cNvSpPr/>
          <p:nvPr/>
        </p:nvSpPr>
        <p:spPr>
          <a:xfrm>
            <a:off x="196848" y="210867"/>
            <a:ext cx="930543" cy="862014"/>
          </a:xfrm>
          <a:prstGeom prst="rect">
            <a:avLst/>
          </a:prstGeom>
          <a:solidFill>
            <a:srgbClr val="D5DBE5"/>
          </a:solidFill>
          <a:ln cap="flat" cmpd="sng" w="12700">
            <a:solidFill>
              <a:srgbClr val="31538F"/>
            </a:solidFill>
            <a:prstDash val="solid"/>
            <a:miter lim="800000"/>
            <a:headEnd len="sm" w="sm" type="none"/>
            <a:tailEnd len="sm" w="sm" type="none"/>
          </a:ln>
        </p:spPr>
        <p:txBody>
          <a:bodyPr anchorCtr="0" anchor="ctr" bIns="12425" lIns="24875" spcFirstLastPara="1" rIns="24875" wrap="square" tIns="12425">
            <a:noAutofit/>
          </a:bodyPr>
          <a:lstStyle/>
          <a:p>
            <a:pPr indent="0" lvl="0" marL="0" marR="0" rtl="0" algn="ctr">
              <a:spcBef>
                <a:spcPts val="0"/>
              </a:spcBef>
              <a:spcAft>
                <a:spcPts val="0"/>
              </a:spcAft>
              <a:buNone/>
            </a:pPr>
            <a:r>
              <a:rPr b="0" i="0" lang="en-US" sz="2800" u="none" cap="none" strike="noStrike">
                <a:solidFill>
                  <a:schemeClr val="lt1"/>
                </a:solidFill>
                <a:latin typeface="Calibri"/>
                <a:ea typeface="Calibri"/>
                <a:cs typeface="Calibri"/>
                <a:sym typeface="Calibri"/>
              </a:rPr>
              <a:t>Logo</a:t>
            </a:r>
            <a:endParaRPr/>
          </a:p>
        </p:txBody>
      </p:sp>
      <p:sp>
        <p:nvSpPr>
          <p:cNvPr id="104" name="Google Shape;104;p1"/>
          <p:cNvSpPr/>
          <p:nvPr/>
        </p:nvSpPr>
        <p:spPr>
          <a:xfrm rot="10800000">
            <a:off x="3102226" y="3573725"/>
            <a:ext cx="443700" cy="241800"/>
          </a:xfrm>
          <a:prstGeom prst="rightArrow">
            <a:avLst>
              <a:gd fmla="val 50000" name="adj1"/>
              <a:gd fmla="val 50000" name="adj2"/>
            </a:avLst>
          </a:prstGeom>
          <a:solidFill>
            <a:srgbClr val="2F5496"/>
          </a:solidFill>
          <a:ln cap="flat" cmpd="sng" w="12700">
            <a:solidFill>
              <a:srgbClr val="31538F"/>
            </a:solidFill>
            <a:prstDash val="solid"/>
            <a:miter lim="800000"/>
            <a:headEnd len="sm" w="sm" type="none"/>
            <a:tailEnd len="sm" w="sm" type="none"/>
          </a:ln>
        </p:spPr>
        <p:txBody>
          <a:bodyPr anchorCtr="0" anchor="ctr" bIns="12425" lIns="24875" spcFirstLastPara="1" rIns="24875" wrap="square" tIns="12425">
            <a:noAutofit/>
          </a:bodyPr>
          <a:lstStyle/>
          <a:p>
            <a:pPr indent="0" lvl="0" marL="0" marR="0" rtl="1" algn="r">
              <a:spcBef>
                <a:spcPts val="0"/>
              </a:spcBef>
              <a:spcAft>
                <a:spcPts val="0"/>
              </a:spcAft>
              <a:buNone/>
            </a:pPr>
            <a:r>
              <a:t/>
            </a:r>
            <a:endParaRPr b="0" i="0" sz="490" u="none" cap="none" strike="noStrike">
              <a:solidFill>
                <a:schemeClr val="lt1"/>
              </a:solidFill>
              <a:latin typeface="Calibri"/>
              <a:ea typeface="Calibri"/>
              <a:cs typeface="Calibri"/>
              <a:sym typeface="Calibri"/>
            </a:endParaRPr>
          </a:p>
        </p:txBody>
      </p:sp>
      <p:sp>
        <p:nvSpPr>
          <p:cNvPr id="105" name="Google Shape;105;p1"/>
          <p:cNvSpPr/>
          <p:nvPr/>
        </p:nvSpPr>
        <p:spPr>
          <a:xfrm rot="10800000">
            <a:off x="3130639" y="5911674"/>
            <a:ext cx="434700" cy="241800"/>
          </a:xfrm>
          <a:prstGeom prst="leftArrow">
            <a:avLst>
              <a:gd fmla="val 50000" name="adj1"/>
              <a:gd fmla="val 50000" name="adj2"/>
            </a:avLst>
          </a:prstGeom>
          <a:solidFill>
            <a:srgbClr val="2F5496"/>
          </a:solidFill>
          <a:ln cap="flat" cmpd="sng" w="12700">
            <a:solidFill>
              <a:srgbClr val="31538F"/>
            </a:solidFill>
            <a:prstDash val="solid"/>
            <a:miter lim="800000"/>
            <a:headEnd len="sm" w="sm" type="none"/>
            <a:tailEnd len="sm" w="sm" type="none"/>
          </a:ln>
        </p:spPr>
        <p:txBody>
          <a:bodyPr anchorCtr="0" anchor="ctr" bIns="12425" lIns="24875" spcFirstLastPara="1" rIns="24875" wrap="square" tIns="12425">
            <a:noAutofit/>
          </a:bodyPr>
          <a:lstStyle/>
          <a:p>
            <a:pPr indent="0" lvl="0" marL="0" marR="0" rtl="1" algn="r">
              <a:spcBef>
                <a:spcPts val="0"/>
              </a:spcBef>
              <a:spcAft>
                <a:spcPts val="0"/>
              </a:spcAft>
              <a:buNone/>
            </a:pPr>
            <a:r>
              <a:t/>
            </a:r>
            <a:endParaRPr b="0" i="0" sz="490" u="none" cap="none" strike="noStrike">
              <a:solidFill>
                <a:schemeClr val="lt1"/>
              </a:solidFill>
              <a:latin typeface="Calibri"/>
              <a:ea typeface="Calibri"/>
              <a:cs typeface="Calibri"/>
              <a:sym typeface="Calibri"/>
            </a:endParaRPr>
          </a:p>
        </p:txBody>
      </p:sp>
      <p:sp>
        <p:nvSpPr>
          <p:cNvPr id="106" name="Google Shape;106;p1"/>
          <p:cNvSpPr/>
          <p:nvPr/>
        </p:nvSpPr>
        <p:spPr>
          <a:xfrm>
            <a:off x="165000" y="1487613"/>
            <a:ext cx="2876700" cy="1465800"/>
          </a:xfrm>
          <a:prstGeom prst="foldedCorner">
            <a:avLst>
              <a:gd fmla="val 16667" name="adj"/>
            </a:avLst>
          </a:prstGeom>
          <a:solidFill>
            <a:schemeClr val="lt1"/>
          </a:solidFill>
          <a:ln cap="flat" cmpd="sng" w="38100">
            <a:solidFill>
              <a:srgbClr val="021C6D"/>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u="sng" cap="none" strike="noStrike">
                <a:solidFill>
                  <a:srgbClr val="021C6D"/>
                </a:solidFill>
                <a:latin typeface="Calibri"/>
                <a:ea typeface="Calibri"/>
                <a:cs typeface="Calibri"/>
                <a:sym typeface="Calibri"/>
              </a:rPr>
              <a:t>Contribution/project goal</a:t>
            </a:r>
            <a:endParaRPr b="1" i="0" u="sng" cap="none" strike="noStrike">
              <a:solidFill>
                <a:srgbClr val="021C6D"/>
              </a:solidFill>
              <a:latin typeface="Calibri"/>
              <a:ea typeface="Calibri"/>
              <a:cs typeface="Calibri"/>
              <a:sym typeface="Calibri"/>
            </a:endParaRPr>
          </a:p>
          <a:p>
            <a:pPr indent="0" lvl="0" marL="0" marR="0" rtl="0" algn="ctr">
              <a:spcBef>
                <a:spcPts val="0"/>
              </a:spcBef>
              <a:spcAft>
                <a:spcPts val="0"/>
              </a:spcAft>
              <a:buNone/>
            </a:pPr>
            <a:r>
              <a:t/>
            </a:r>
            <a:endParaRPr b="1" u="sng">
              <a:solidFill>
                <a:srgbClr val="021C6D"/>
              </a:solidFill>
              <a:latin typeface="Calibri"/>
              <a:ea typeface="Calibri"/>
              <a:cs typeface="Calibri"/>
              <a:sym typeface="Calibri"/>
            </a:endParaRPr>
          </a:p>
          <a:p>
            <a:pPr indent="0" lvl="0" marL="0" rtl="0" algn="l">
              <a:lnSpc>
                <a:spcPct val="107916"/>
              </a:lnSpc>
              <a:spcBef>
                <a:spcPts val="0"/>
              </a:spcBef>
              <a:spcAft>
                <a:spcPts val="0"/>
              </a:spcAft>
              <a:buClr>
                <a:schemeClr val="dk1"/>
              </a:buClr>
              <a:buSzPts val="1100"/>
              <a:buFont typeface="Arial"/>
              <a:buNone/>
            </a:pPr>
            <a:r>
              <a:rPr lang="en-US" sz="1300">
                <a:solidFill>
                  <a:srgbClr val="021C6D"/>
                </a:solidFill>
                <a:latin typeface="Calibri"/>
                <a:ea typeface="Calibri"/>
                <a:cs typeface="Calibri"/>
                <a:sym typeface="Calibri"/>
              </a:rPr>
              <a:t>Our AI Scheduler will provide an easy way to create a shifts board for the managers and the workers. </a:t>
            </a:r>
            <a:endParaRPr sz="1300">
              <a:solidFill>
                <a:srgbClr val="021C6D"/>
              </a:solidFill>
              <a:latin typeface="Calibri"/>
              <a:ea typeface="Calibri"/>
              <a:cs typeface="Calibri"/>
              <a:sym typeface="Calibri"/>
            </a:endParaRPr>
          </a:p>
          <a:p>
            <a:pPr indent="0" lvl="0" marL="0" rtl="0" algn="l">
              <a:lnSpc>
                <a:spcPct val="107916"/>
              </a:lnSpc>
              <a:spcBef>
                <a:spcPts val="800"/>
              </a:spcBef>
              <a:spcAft>
                <a:spcPts val="800"/>
              </a:spcAft>
              <a:buClr>
                <a:schemeClr val="dk1"/>
              </a:buClr>
              <a:buSzPts val="1100"/>
              <a:buFont typeface="Arial"/>
              <a:buNone/>
            </a:pPr>
            <a:r>
              <a:t/>
            </a:r>
            <a:endParaRPr sz="1100">
              <a:solidFill>
                <a:schemeClr val="dk1"/>
              </a:solidFill>
              <a:latin typeface="Calibri"/>
              <a:ea typeface="Calibri"/>
              <a:cs typeface="Calibri"/>
              <a:sym typeface="Calibri"/>
            </a:endParaRPr>
          </a:p>
        </p:txBody>
      </p:sp>
      <p:sp>
        <p:nvSpPr>
          <p:cNvPr id="107" name="Google Shape;107;p1"/>
          <p:cNvSpPr txBox="1"/>
          <p:nvPr/>
        </p:nvSpPr>
        <p:spPr>
          <a:xfrm>
            <a:off x="2019300" y="252700"/>
            <a:ext cx="2876700" cy="415500"/>
          </a:xfrm>
          <a:prstGeom prst="rect">
            <a:avLst/>
          </a:prstGeom>
          <a:gradFill>
            <a:gsLst>
              <a:gs pos="0">
                <a:srgbClr val="3177EE"/>
              </a:gs>
              <a:gs pos="100000">
                <a:srgbClr val="113D8A"/>
              </a:gs>
            </a:gsLst>
            <a:lin ang="5400012" scaled="0"/>
          </a:gradFill>
          <a:ln cap="flat" cmpd="sng" w="12700">
            <a:solidFill>
              <a:srgbClr val="FFFFFF"/>
            </a:solidFill>
            <a:prstDash val="solid"/>
            <a:miter lim="8000"/>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1500">
                <a:solidFill>
                  <a:schemeClr val="lt1"/>
                </a:solidFill>
                <a:latin typeface="Calibri"/>
                <a:ea typeface="Calibri"/>
                <a:cs typeface="Calibri"/>
                <a:sym typeface="Calibri"/>
              </a:rPr>
              <a:t>AI - SCHEDULER</a:t>
            </a:r>
            <a:endParaRPr b="1" sz="1500">
              <a:solidFill>
                <a:schemeClr val="lt1"/>
              </a:solidFill>
              <a:latin typeface="Calibri"/>
              <a:ea typeface="Calibri"/>
              <a:cs typeface="Calibri"/>
              <a:sym typeface="Calibri"/>
            </a:endParaRPr>
          </a:p>
        </p:txBody>
      </p:sp>
      <p:pic>
        <p:nvPicPr>
          <p:cNvPr id="108" name="Google Shape;108;p1"/>
          <p:cNvPicPr preferRelativeResize="0"/>
          <p:nvPr/>
        </p:nvPicPr>
        <p:blipFill rotWithShape="1">
          <a:blip r:embed="rId14">
            <a:alphaModFix/>
          </a:blip>
          <a:srcRect b="0" l="3971" r="7961" t="2286"/>
          <a:stretch/>
        </p:blipFill>
        <p:spPr>
          <a:xfrm>
            <a:off x="196850" y="210875"/>
            <a:ext cx="930550" cy="862000"/>
          </a:xfrm>
          <a:prstGeom prst="rect">
            <a:avLst/>
          </a:prstGeom>
          <a:noFill/>
          <a:ln>
            <a:noFill/>
          </a:ln>
          <a:effectLst>
            <a:outerShdw blurRad="57150" rotWithShape="0" algn="bl" dir="5400000" dist="19050">
              <a:srgbClr val="0B5394">
                <a:alpha val="50000"/>
              </a:srgbClr>
            </a:outerShdw>
          </a:effectLst>
        </p:spPr>
      </p:pic>
      <p:pic>
        <p:nvPicPr>
          <p:cNvPr id="109" name="Google Shape;109;p1"/>
          <p:cNvPicPr preferRelativeResize="0"/>
          <p:nvPr/>
        </p:nvPicPr>
        <p:blipFill>
          <a:blip r:embed="rId15">
            <a:alphaModFix/>
          </a:blip>
          <a:stretch>
            <a:fillRect/>
          </a:stretch>
        </p:blipFill>
        <p:spPr>
          <a:xfrm>
            <a:off x="6014987" y="0"/>
            <a:ext cx="843013" cy="766000"/>
          </a:xfrm>
          <a:prstGeom prst="rect">
            <a:avLst/>
          </a:prstGeom>
          <a:noFill/>
          <a:ln>
            <a:noFill/>
          </a:ln>
          <a:effectLst>
            <a:outerShdw blurRad="57150" rotWithShape="0" algn="bl" dir="5400000" dist="19050">
              <a:srgbClr val="2F82DC">
                <a:alpha val="50000"/>
              </a:srgbClr>
            </a:outerShdw>
          </a:effectLst>
        </p:spPr>
      </p:pic>
      <p:sp>
        <p:nvSpPr>
          <p:cNvPr id="110" name="Google Shape;110;p1"/>
          <p:cNvSpPr/>
          <p:nvPr/>
        </p:nvSpPr>
        <p:spPr>
          <a:xfrm rot="10800000">
            <a:off x="3106726" y="1969049"/>
            <a:ext cx="434700" cy="241800"/>
          </a:xfrm>
          <a:prstGeom prst="leftArrow">
            <a:avLst>
              <a:gd fmla="val 50000" name="adj1"/>
              <a:gd fmla="val 50000" name="adj2"/>
            </a:avLst>
          </a:prstGeom>
          <a:solidFill>
            <a:srgbClr val="2F5496"/>
          </a:solidFill>
          <a:ln cap="flat" cmpd="sng" w="12700">
            <a:solidFill>
              <a:srgbClr val="31538F"/>
            </a:solidFill>
            <a:prstDash val="solid"/>
            <a:miter lim="800000"/>
            <a:headEnd len="sm" w="sm" type="none"/>
            <a:tailEnd len="sm" w="sm" type="none"/>
          </a:ln>
        </p:spPr>
        <p:txBody>
          <a:bodyPr anchorCtr="0" anchor="ctr" bIns="12425" lIns="24875" spcFirstLastPara="1" rIns="24875" wrap="square" tIns="12425">
            <a:noAutofit/>
          </a:bodyPr>
          <a:lstStyle/>
          <a:p>
            <a:pPr indent="0" lvl="0" marL="0" marR="0" rtl="1" algn="r">
              <a:spcBef>
                <a:spcPts val="0"/>
              </a:spcBef>
              <a:spcAft>
                <a:spcPts val="0"/>
              </a:spcAft>
              <a:buNone/>
            </a:pPr>
            <a:r>
              <a:t/>
            </a:r>
            <a:endParaRPr b="0" i="0" sz="49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2020-05-21T09:41:20Z</dcterms:created>
  <dc:creator>yogi zor</dc:creator>
</cp:coreProperties>
</file>